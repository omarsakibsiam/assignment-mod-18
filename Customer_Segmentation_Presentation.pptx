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3374B"/>
                </a:solidFill>
                <a:latin typeface="Aptos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875520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>
                <a:solidFill>
                  <a:srgbClr val="1E1E1E"/>
                </a:solidFill>
                <a:latin typeface="Aptos"/>
              </a:rPr>
              <a:t>Using K-Means and
Gaussian Mixture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8686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5F5F"/>
                </a:solidFill>
                <a:latin typeface="Aptos"/>
              </a:rPr>
              <a:t>An unsupervised machine learning study of customer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00600"/>
            <a:ext cx="5212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020056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Research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983480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F5F5F"/>
                </a:solidFill>
                <a:latin typeface="Aptos"/>
              </a:rPr>
              <a:t>K-Means • GMM • Customer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0807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E1E1E"/>
                </a:solidFill>
                <a:latin typeface="Aptos"/>
              </a:rPr>
              <a:t>Problem &amp;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14400" cy="41148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812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7607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E1E1E"/>
                </a:solidFill>
                <a:latin typeface="Aptos"/>
              </a:rPr>
              <a:t>Customers differ in their demographics,
spending, purchasing behavior, and
online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80"/>
            <a:ext cx="57607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ptos"/>
              </a:rPr>
              <a:t>Clustering can group customers with similar characteristics without predefined segment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05072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589788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ptos"/>
              </a:rPr>
              <a:t>How can K-Means and GMM clustering be used to identify distinct customer segments based on age, income, spending behavior, purchase frequency, and online engagement to support targeted marketing strategies?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325880"/>
            <a:ext cx="3977639" cy="4526280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27632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LITERATURE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93392"/>
            <a:ext cx="3246120" cy="3291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1E1E1E"/>
                </a:solidFill>
                <a:latin typeface="Aptos"/>
              </a:rPr>
              <a:t>• John et al. (2023) compared K-Means, GMM, and DBSCAN for retail customer segmentation.
• Ashraf et al. (2025) reported K-Means as the best of four tested clustering methods using RFM features.
• Dogan et al. (2018) found that spending alone was insufficient for customer segmentation.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413248"/>
            <a:ext cx="10972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[1] [2] 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0807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E1E1E"/>
                </a:solidFill>
                <a:latin typeface="Aptos"/>
              </a:rPr>
              <a:t>Data &amp;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14400" cy="41148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72184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23374B"/>
                </a:solidFill>
                <a:latin typeface="Aptos"/>
              </a:rPr>
              <a:t>2,240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9961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298448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472184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23374B"/>
                </a:solidFill>
                <a:latin typeface="Apto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49961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dataset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298448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472184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23374B"/>
                </a:solidFill>
                <a:latin typeface="Apto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149961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features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1298448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472184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23374B"/>
                </a:solidFill>
                <a:latin typeface="Aptos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3536" y="149961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5F5F"/>
                </a:solidFill>
                <a:latin typeface="Aptos"/>
              </a:rPr>
              <a:t>predefined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16352"/>
            <a:ext cx="178308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990088"/>
            <a:ext cx="1636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Aptos"/>
              </a:rPr>
              <a:t>Clean 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96312" y="3008376"/>
            <a:ext cx="347472" cy="256032"/>
          </a:xfrm>
          <a:prstGeom prst="rightArrow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07792" y="2816352"/>
            <a:ext cx="178308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2990088"/>
            <a:ext cx="1636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Aptos"/>
              </a:rPr>
              <a:t>Feature engineering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18304" y="3008376"/>
            <a:ext cx="347472" cy="256032"/>
          </a:xfrm>
          <a:prstGeom prst="rightArrow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9784" y="2816352"/>
            <a:ext cx="178308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990088"/>
            <a:ext cx="1636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Aptos"/>
              </a:rPr>
              <a:t>Standardize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40296" y="3008376"/>
            <a:ext cx="347472" cy="256032"/>
          </a:xfrm>
          <a:prstGeom prst="rightArrow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1776" y="2816352"/>
            <a:ext cx="178308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2990088"/>
            <a:ext cx="1636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Aptos"/>
              </a:rPr>
              <a:t>K-Means / GMM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62288" y="3008376"/>
            <a:ext cx="347472" cy="256032"/>
          </a:xfrm>
          <a:prstGeom prst="rightArrow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3768" y="2816352"/>
            <a:ext cx="178308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990088"/>
            <a:ext cx="1636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E1E1E"/>
                </a:solidFill>
                <a:latin typeface="Aptos"/>
              </a:rPr>
              <a:t>Evaluate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886200"/>
            <a:ext cx="5532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133087"/>
            <a:ext cx="1463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FEATURES USED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480560"/>
            <a:ext cx="49377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ptos"/>
              </a:rPr>
              <a:t>Age • Income • Total_spend • NumWebPurchases
NumStorePurchases • Recency • NumWebVisitsMonth • Customer_since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886200"/>
            <a:ext cx="5257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133087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MODEL &amp;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480560"/>
            <a:ext cx="45720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ptos"/>
              </a:rPr>
              <a:t>K-Means → Elbow Method → K = 4
GMM → BIC → K = 8
Silhouette Score → compare cluster separation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0807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E1E1E"/>
                </a:solidFill>
                <a:latin typeface="Aptos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14400" cy="41148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486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means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90472"/>
            <a:ext cx="5029200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456432"/>
            <a:ext cx="4846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K-Means: K = 4 selected from the elbow curve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2578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lhouett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81328"/>
            <a:ext cx="4526280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023360"/>
            <a:ext cx="37947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61104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45152"/>
            <a:ext cx="32461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ptos"/>
              </a:rPr>
              <a:t>Model          K          Silhouette
K-Means        4             0.1648
GMM             8             0.0702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4023360"/>
            <a:ext cx="69951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61104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PCA CLUSTER VISUALIZATION</a:t>
            </a:r>
          </a:p>
        </p:txBody>
      </p:sp>
      <p:pic>
        <p:nvPicPr>
          <p:cNvPr id="15" name="Picture 14" descr="kmeans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572000"/>
            <a:ext cx="3063240" cy="1115568"/>
          </a:xfrm>
          <a:prstGeom prst="rect">
            <a:avLst/>
          </a:prstGeom>
        </p:spPr>
      </p:pic>
      <p:pic>
        <p:nvPicPr>
          <p:cNvPr id="16" name="Picture 15" descr="gmm_clust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572000"/>
            <a:ext cx="3063240" cy="1115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32120" y="5669280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K-Means • 4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5669280"/>
            <a:ext cx="1783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ptos"/>
              </a:rPr>
              <a:t>GMM • 8 clusters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0807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E1E1E"/>
                </a:solidFill>
                <a:latin typeface="Aptos"/>
              </a:rPr>
              <a:t>Discussion, Limitations &amp;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914400" cy="41148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6294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KEY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8521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E1E1E"/>
                </a:solidFill>
                <a:latin typeface="Aptos"/>
              </a:rPr>
              <a:t>K-Means performed better than GMM
on the Silhouette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5715000" cy="1737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1E1E"/>
                </a:solidFill>
                <a:latin typeface="Aptos"/>
              </a:rPr>
              <a:t>• K-Means: 0.1648 silhouette score.
• GMM: 0.0702 silhouette score.
• Both models show weak cluster separation.
• Missing income values and extreme values remain limitations.
• No predefined customer segments are available for external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10912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937760"/>
            <a:ext cx="48463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ptos"/>
              </a:rPr>
              <a:t>K-Means is the better-performing approach in this experiment, but further feature engineering, outlier treatment, and testing could improve the segmentation.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325880"/>
            <a:ext cx="4114800" cy="4480560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E4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27632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3374B"/>
                </a:solidFill>
                <a:latin typeface="Aptos"/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2"/>
            <a:ext cx="33832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ptos"/>
              </a:rPr>
              <a:t>[1] John, J. M., Shobayo, O., &amp; Ogunleye, B. (2023). An Exploration of Clustering Algorithms for Customer Segmentation in the UK Retail Market. Analytics, 2(4), 809–823.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36392"/>
            <a:ext cx="33832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ptos"/>
              </a:rPr>
              <a:t>[2] Ashraf, A., Rayed, C. A., Awad, N. A., &amp; Sabry, H. M. (2025). A Framework for Customer Segmentation to Improve Marketing Strategies Using Machine Learning. Procedia Computer Science, 260, 616–625.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79392"/>
            <a:ext cx="33832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ptos"/>
              </a:rPr>
              <a:t>[3] Doğan, O., Ayçin, E., &amp; Bulut, Z. (2018). Customer Segmentation by Using RFM Model and Clustering Methods: A Case Study in Retail Industry.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321808"/>
            <a:ext cx="3383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3374B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0807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>
                <a:solidFill>
                  <a:srgbClr val="5F5F5F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